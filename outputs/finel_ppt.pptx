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002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1762125"/>
          </a:xfrm>
          <a:prstGeom prst="rect">
            <a:avLst/>
          </a:prstGeom>
          <a:solidFill>
            <a:srgbClr val="220047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1762125"/>
            <a:ext cx="12192000" cy="1143000"/>
          </a:xfrm>
          <a:prstGeom prst="rect">
            <a:avLst/>
          </a:prstGeom>
          <a:solidFill>
            <a:srgbClr val="34106A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0" y="2905125"/>
            <a:ext cx="12192000" cy="3952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4572000" y="5905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  |  H2S</a:t>
            </a:r>
            <a:endParaRPr sz="17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191000" y="11620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75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3375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3375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343400" y="1847850"/>
            <a:ext cx="352425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533900" y="19526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what next India runs on</a:t>
            </a:r>
            <a:endParaRPr sz="1500" b="0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14350" y="32385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Team Name : AD-Redrob Scout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37338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Team Leader Name : Ayush</a:t>
            </a:r>
            <a:r>
              <a:rPr lang="en-US"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 Dhangar</a:t>
            </a:r>
            <a:endParaRPr lang="en-US"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4229100"/>
            <a:ext cx="800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Problem Statement : AI Recruitment - Intelligent Candidate Discovery and Ranking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14350" y="48006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Live Project : https://ai-recruitment-ayush.vercel.app/</a:t>
            </a:r>
            <a:endParaRPr sz="1500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14350" y="52959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A deployed, explainable ranker that finds real production AI/search engineers from a noisy 100K candidate pool.</a:t>
            </a:r>
            <a:endParaRPr sz="15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02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Solution Overview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14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Redrob Scout converts raw candidate data into a recruiter-ready top-100 shortlist.</a:t>
            </a:r>
            <a:endParaRPr sz="1875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19150" y="243840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66800" y="2362200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Proposed solution: an offline deterministic ranker plus a deployed review dashboard.</a:t>
            </a:r>
            <a:endParaRPr sz="15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819150" y="297180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066800" y="28956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Differentiator: it scores career evidence, production search depth, behavior, logistics, and anti-signals instead of only matching AI keywords.</a:t>
            </a:r>
            <a:endParaRPr sz="15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819150" y="37147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066800" y="3638550"/>
            <a:ext cx="895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Result: judges can inspect every recommendation, see why it ranked, and download the valid CSV.</a:t>
            </a:r>
            <a:endParaRPr sz="15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14400" y="476250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085850" y="49149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SCANNED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085850" y="51435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100K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085850" y="5572125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profiles from candidates.jsonl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3562350" y="476250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3733800" y="49149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OUTPUT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733800" y="51435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100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733800" y="5572125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valid ranked candidates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210300" y="4762500"/>
            <a:ext cx="2476500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381750" y="491490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READY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381750" y="514350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41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381750" y="557212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open, responsive, &lt;= 60d notice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048750" y="4762500"/>
            <a:ext cx="2476500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9220200" y="491490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RUNTIME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9220200" y="5143500"/>
            <a:ext cx="2133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197s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220200" y="557212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CPU-only, no network APIs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03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JD Understanding and Candidate Evaluation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The JD is explicit: this role needs a shipper with deep retrieval/ranking systems experience.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762000" y="2343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66800" y="2686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Key JD requirements</a:t>
            </a:r>
            <a:endParaRPr sz="1800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085850" y="32575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333500" y="3181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Embeddings and vector or hybrid search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085850" y="37147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333500" y="36385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Ranking/recommendation evaluation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1085850" y="41719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333500" y="4095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Production Python and ML systems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438650" y="2343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4743450" y="2686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Most important signals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4762500" y="32575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010150" y="3181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Career text showing shipped systems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4762500" y="37147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010150" y="36385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Title, tenure, skill duration, assessments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4762500" y="422910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5010150" y="41529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Recency, response rate, notice period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115300" y="2343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420100" y="2686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C1121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1121F"/>
                </a:solidFill>
                <a:latin typeface="Aptos"/>
                <a:ea typeface="Aptos"/>
                <a:cs typeface="Aptos"/>
              </a:rPr>
              <a:t>Beyond keywords</a:t>
            </a:r>
            <a:endParaRPr sz="1800" b="1" i="0">
              <a:solidFill>
                <a:srgbClr val="C112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Oval 28"/>
          <p:cNvSpPr>
            <a:spLocks noGrp="1"/>
          </p:cNvSpPr>
          <p:nvPr/>
        </p:nvSpPr>
        <p:spPr>
          <a:xfrm>
            <a:off x="8439150" y="3257550"/>
            <a:ext cx="95250" cy="95250"/>
          </a:xfrm>
          <a:prstGeom prst="ellipse">
            <a:avLst/>
          </a:prstGeom>
          <a:solidFill>
            <a:srgbClr val="C1121F"/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686800" y="3181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Keyword stuffing is penalized.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8439150" y="3714750"/>
            <a:ext cx="95250" cy="95250"/>
          </a:xfrm>
          <a:prstGeom prst="ellipse">
            <a:avLst/>
          </a:prstGeom>
          <a:solidFill>
            <a:srgbClr val="C1121F"/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8686800" y="36385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Pure research without deployment drops.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Oval 32"/>
          <p:cNvSpPr>
            <a:spLocks noGrp="1"/>
          </p:cNvSpPr>
          <p:nvPr/>
        </p:nvSpPr>
        <p:spPr>
          <a:xfrm>
            <a:off x="8439150" y="4229100"/>
            <a:ext cx="95250" cy="95250"/>
          </a:xfrm>
          <a:prstGeom prst="ellipse">
            <a:avLst/>
          </a:prstGeom>
          <a:solidFill>
            <a:srgbClr val="C1121F"/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8686800" y="41529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Services-only and stale profiles fall.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04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Ranking Methodology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A transparent scoring model combines evidence, fit, availability, and risk.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38200" y="24574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Oval 11"/>
          <p:cNvSpPr>
            <a:spLocks noGrp="1"/>
          </p:cNvSpPr>
          <p:nvPr/>
        </p:nvSpPr>
        <p:spPr>
          <a:xfrm>
            <a:off x="1009650" y="262890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09650" y="26860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447800" y="26289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Retrieve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447800" y="2943225"/>
            <a:ext cx="3962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Stream all profiles and build a normalized evidence blob from title, summary, career, skills, and signals.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219825" y="24574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Oval 16"/>
          <p:cNvSpPr>
            <a:spLocks noGrp="1"/>
          </p:cNvSpPr>
          <p:nvPr/>
        </p:nvSpPr>
        <p:spPr>
          <a:xfrm>
            <a:off x="6391275" y="262890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391275" y="26860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29425" y="26289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Score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29425" y="2943225"/>
            <a:ext cx="3962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Weighted components: technical depth, role fit, experience band, product-company signal, behavior, and logistics.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38200" y="39433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Oval 21"/>
          <p:cNvSpPr>
            <a:spLocks noGrp="1"/>
          </p:cNvSpPr>
          <p:nvPr/>
        </p:nvSpPr>
        <p:spPr>
          <a:xfrm>
            <a:off x="1009650" y="411480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009650" y="41719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447800" y="4114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Penalize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447800" y="4429125"/>
            <a:ext cx="3962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Anti-signals reduce suspicious profiles: weak AI claims, timeline mismatch, long notice, stale activity, services-only paths.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6219825" y="3943350"/>
            <a:ext cx="4762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Oval 26"/>
          <p:cNvSpPr>
            <a:spLocks noGrp="1"/>
          </p:cNvSpPr>
          <p:nvPr/>
        </p:nvSpPr>
        <p:spPr>
          <a:xfrm>
            <a:off x="6391275" y="411480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6391275" y="41719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829425" y="4114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Rank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829425" y="4429125"/>
            <a:ext cx="3962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Keep a bounded top-candidate heap, sort deterministically, and write exactly 100 valid rows.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895350" y="57340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Final ranking goal: maximize useful top-10 quality for NDCG@10 while keeping the whole top 100 defensible.</a:t>
            </a:r>
            <a:endParaRPr sz="1575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05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Explainability and Data Validation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Every recommendation includes a reason that can be checked against the profile.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00100" y="2400300"/>
            <a:ext cx="4953000" cy="276225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162050" y="2724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How decisions are explained</a:t>
            </a:r>
            <a:endParaRPr sz="19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181100" y="33337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428750" y="3257550"/>
            <a:ext cx="371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Reasoning cites title, years, company, location, matched skills, response rate, active date, and notice period.</a:t>
            </a:r>
            <a:endParaRPr sz="135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181100" y="419100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428750" y="41148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Score breakdowns show technical, retrieval, ranking, behavior, logistics, and penalties.</a:t>
            </a:r>
            <a:endParaRPr sz="135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438900" y="2400300"/>
            <a:ext cx="4953000" cy="2762250"/>
          </a:xfrm>
          <a:prstGeom prst="roundRect">
            <a:avLst>
              <a:gd name="adj" fmla="val 2759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800850" y="2724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How hallucinations are avoided</a:t>
            </a:r>
            <a:endParaRPr sz="1950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6819900" y="33337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067550" y="32575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No LLM calls during ranking; explanations are generated only from candidate fields.</a:t>
            </a:r>
            <a:endParaRPr sz="135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6819900" y="403860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067550" y="39624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Inconsistent or suspicious profiles are flagged as concerns instead of being praised.</a:t>
            </a:r>
            <a:endParaRPr sz="135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06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End-to-End Workflow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Complete flow from JD input to ranked candidate output.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143000" y="2400300"/>
            <a:ext cx="9334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Oval 11"/>
          <p:cNvSpPr>
            <a:spLocks noGrp="1"/>
          </p:cNvSpPr>
          <p:nvPr/>
        </p:nvSpPr>
        <p:spPr>
          <a:xfrm>
            <a:off x="1314450" y="257175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314450" y="26289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752600" y="25717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Read JD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752600" y="2886075"/>
            <a:ext cx="853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Extract must-have retrieval, ranking, evaluation, location, and availability expectations.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1143000" y="3276600"/>
            <a:ext cx="9334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Oval 16"/>
          <p:cNvSpPr>
            <a:spLocks noGrp="1"/>
          </p:cNvSpPr>
          <p:nvPr/>
        </p:nvSpPr>
        <p:spPr>
          <a:xfrm>
            <a:off x="1314450" y="344805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314450" y="35052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752600" y="34480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Score pool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752600" y="3762375"/>
            <a:ext cx="853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Run CPU-only scorer across 100,000 candidates with deterministic rules.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1143000" y="4152900"/>
            <a:ext cx="9334500" cy="1123950"/>
          </a:xfrm>
          <a:prstGeom prst="roundRect">
            <a:avLst>
              <a:gd name="adj" fmla="val 6780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Oval 21"/>
          <p:cNvSpPr>
            <a:spLocks noGrp="1"/>
          </p:cNvSpPr>
          <p:nvPr/>
        </p:nvSpPr>
        <p:spPr>
          <a:xfrm>
            <a:off x="1314450" y="432435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314450" y="43815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752600" y="4324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Validate CSV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752600" y="4638675"/>
            <a:ext cx="853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Write candidate_id, rank, score, reasoning and run the challenge validator.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1143000" y="5029200"/>
            <a:ext cx="9334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Oval 26"/>
          <p:cNvSpPr>
            <a:spLocks noGrp="1"/>
          </p:cNvSpPr>
          <p:nvPr/>
        </p:nvSpPr>
        <p:spPr>
          <a:xfrm>
            <a:off x="1314450" y="5200650"/>
            <a:ext cx="323850" cy="323850"/>
          </a:xfrm>
          <a:prstGeom prst="ellipse">
            <a:avLst/>
          </a:prstGeom>
          <a:solidFill>
            <a:srgbClr val="050505"/>
          </a:solidFill>
          <a:ln w="9525">
            <a:solidFill>
              <a:srgbClr val="05050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314450" y="52578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050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752600" y="52006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Review UI</a:t>
            </a:r>
            <a:endParaRPr sz="165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752600" y="5514975"/>
            <a:ext cx="853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Publish dashboard so judges can search, filter, inspect, and download output.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07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Simple by design: reproducible ranking core, generated dashboard payload, static deployed frontend.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85800" y="27813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3105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Input</a:t>
            </a:r>
            <a:endParaRPr sz="1875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14400" y="3524250"/>
            <a:ext cx="1676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candidates.jsonl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job description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Redrob signals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067050" y="34290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&gt;</a:t>
            </a:r>
            <a:endParaRPr sz="2250" b="1" i="0">
              <a:solidFill>
                <a:srgbClr val="8B5C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505200" y="27813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733800" y="3105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Ranker</a:t>
            </a:r>
            <a:endParaRPr sz="1875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733800" y="3524250"/>
            <a:ext cx="1676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Python standard library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feature extraction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weighted scorer + penalties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886450" y="34290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&gt;</a:t>
            </a:r>
            <a:endParaRPr sz="2250" b="1" i="0">
              <a:solidFill>
                <a:srgbClr val="8B5C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324600" y="27813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553200" y="3105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Outputs</a:t>
            </a:r>
            <a:endParaRPr sz="1875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553200" y="3524250"/>
            <a:ext cx="1676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top-100 CSV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ranking-data.js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reasoning + breakdown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705850" y="34290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8B5CF6"/>
                </a:solidFill>
                <a:latin typeface="Aptos"/>
                <a:ea typeface="Aptos"/>
                <a:cs typeface="Aptos"/>
              </a:rPr>
              <a:t>&gt;</a:t>
            </a:r>
            <a:endParaRPr sz="2250" b="1" i="0">
              <a:solidFill>
                <a:srgbClr val="8B5CF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9144000" y="2781300"/>
            <a:ext cx="21907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9372600" y="3105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Live product</a:t>
            </a:r>
            <a:endParaRPr sz="1875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9372600" y="3524250"/>
            <a:ext cx="1676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static dashboard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Vercel deployment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CSV download</a:t>
            </a:r>
            <a:endParaRPr sz="127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57250" y="53911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Deployment: https://ai-recruitment-ayush.vercel.app/</a:t>
            </a:r>
            <a:endParaRPr sz="1575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08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Results and Performance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The result is a valid, inspectable shortlist that meets the compute constraints.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76300" y="2476500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47750" y="2628900"/>
            <a:ext cx="1990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TOP SCORE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047750" y="2857500"/>
            <a:ext cx="1990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0.928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47750" y="32861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best-fit composite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524250" y="2476500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695700" y="2628900"/>
            <a:ext cx="1990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CUTOFF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695700" y="2857500"/>
            <a:ext cx="1990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0.696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695700" y="32861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rank-100 threshold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172200" y="2476500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43650" y="2628900"/>
            <a:ext cx="1990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INDIA FIT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343650" y="2857500"/>
            <a:ext cx="1990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98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343650" y="32861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India-based shortlist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8820150" y="2476500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8991600" y="2628900"/>
            <a:ext cx="1990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CLEAR RISK</a:t>
            </a:r>
            <a:endParaRPr sz="825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991600" y="2857500"/>
            <a:ext cx="1990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72</a:t>
            </a:r>
            <a:endParaRPr sz="2475" b="1" i="0">
              <a:solidFill>
                <a:srgbClr val="08796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991600" y="32861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no major anti-signal</a:t>
            </a:r>
            <a:endParaRPr sz="900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971550" y="41719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219200" y="409575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Ranking quality insight: the top candidates are Lead/Senior AI, ML, NLP, and Search engineers with retrieval/ranking production evidence.</a:t>
            </a:r>
            <a:endParaRPr sz="150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Oval 28"/>
          <p:cNvSpPr>
            <a:spLocks noGrp="1"/>
          </p:cNvSpPr>
          <p:nvPr/>
        </p:nvSpPr>
        <p:spPr>
          <a:xfrm>
            <a:off x="971550" y="483870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219200" y="47625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Runtime constraint: one deterministic CPU pass over 100K profiles completed locally in about 197 seconds, with no network or hosted LLM calls.</a:t>
            </a:r>
            <a:endParaRPr sz="150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971550" y="5543550"/>
            <a:ext cx="95250" cy="95250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219200" y="54673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Validation: the generated CSV passes the challenge validator with exactly 100 ranked rows.</a:t>
            </a:r>
            <a:endParaRPr sz="1500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09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Technologies Used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Each technology was selected to keep the solution reproducible, fast, and judge-friendly.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38200" y="247650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66800" y="26860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Python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066800" y="30289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Standard-library ranker for CPU-only reproducibility.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400550" y="247650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4629150" y="26860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JSONL + CSV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629150" y="30289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Simple challenge-native input and output formats.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962900" y="247650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191500" y="26860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HTML/CSS/JS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191500" y="30289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Static recruiter console, no backend dependency.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38200" y="390525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66800" y="4114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Vercel</a:t>
            </a:r>
            <a:endParaRPr sz="1800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066800" y="4457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Live deployment for judges and reviewers.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4400550" y="390525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4629150" y="4114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PowerPoint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4629150" y="4457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Submission deck following the Redrob template structure.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962900" y="3905250"/>
            <a:ext cx="30289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91500" y="4114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Chrome screenshot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191500" y="4457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Real deployed-product proof inside the mockup slide.</a:t>
            </a:r>
            <a:endParaRPr sz="1125" b="0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00050" y="171450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428750" y="1809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| H2S</a:t>
            </a:r>
            <a:endParaRPr sz="127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652000" y="171450"/>
            <a:ext cx="195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1650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049000" y="64103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5F667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0"/>
                </a:solidFill>
                <a:latin typeface="Aptos"/>
                <a:ea typeface="Aptos"/>
                <a:cs typeface="Aptos"/>
              </a:rPr>
              <a:t>10</a:t>
            </a:r>
            <a:endParaRPr sz="900" b="1" i="0">
              <a:solidFill>
                <a:srgbClr val="5F66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10668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52A30"/>
                </a:solidFill>
                <a:latin typeface="Aptos Display"/>
                <a:ea typeface="Aptos Display"/>
                <a:cs typeface="Aptos Display"/>
              </a:rPr>
              <a:t>Submission Assets</a:t>
            </a:r>
            <a:endParaRPr sz="2625" b="1" i="0">
              <a:solidFill>
                <a:srgbClr val="252A3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1676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Live demo, final CSV, source repo assets, and product proof are ready for judges.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66750" y="2305050"/>
            <a:ext cx="4476750" cy="3143250"/>
          </a:xfrm>
          <a:prstGeom prst="roundRect">
            <a:avLst>
              <a:gd name="adj" fmla="val 2424"/>
            </a:avLst>
          </a:prstGeom>
          <a:solidFill>
            <a:srgbClr val="EAF8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990600" y="26289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Links and files</a:t>
            </a:r>
            <a:endParaRPr sz="2025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009650" y="32956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257300" y="3219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009650" y="37528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257300" y="3676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CSV: outputs/redrob_scout_submission.csv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1009650" y="42100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257300" y="41338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Code: scripts/rank_candidates.py + site/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1009650" y="4667250"/>
            <a:ext cx="95250" cy="95250"/>
          </a:xfrm>
          <a:prstGeom prst="ellipse">
            <a:avLst/>
          </a:prstGeom>
          <a:solidFill>
            <a:srgbClr val="08796F"/>
          </a:solidFill>
          <a:ln w="9525">
            <a:solidFill>
              <a:srgbClr val="08796F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257300" y="45910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Docs: README.md + docs/approach.md</a:t>
            </a:r>
            <a:endParaRPr sz="1275" b="0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5657850" y="2305050"/>
            <a:ext cx="5619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rcRect t="15488" b="15488"/>
          <a:stretch>
            <a:fillRect/>
          </a:stretch>
        </p:blipFill>
        <p:spPr>
          <a:xfrm>
            <a:off x="5848350" y="2495550"/>
            <a:ext cx="5238750" cy="2762250"/>
          </a:xfrm>
          <a:prstGeom prst="roundRect">
            <a:avLst>
              <a:gd name="adj" fmla="val 2759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002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1762125"/>
          </a:xfrm>
          <a:prstGeom prst="rect">
            <a:avLst/>
          </a:prstGeom>
          <a:solidFill>
            <a:srgbClr val="220047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1762125"/>
            <a:ext cx="12192000" cy="1143000"/>
          </a:xfrm>
          <a:prstGeom prst="rect">
            <a:avLst/>
          </a:prstGeom>
          <a:solidFill>
            <a:srgbClr val="34106A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0" y="2905125"/>
            <a:ext cx="12192000" cy="3952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0" y="6781800"/>
            <a:ext cx="6705600" cy="76200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705600" y="6781800"/>
            <a:ext cx="5486400" cy="76200"/>
          </a:xfrm>
          <a:prstGeom prst="rect">
            <a:avLst/>
          </a:prstGeom>
          <a:solidFill>
            <a:srgbClr val="1D4ED8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4572000" y="5905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redrob  |  H2S</a:t>
            </a:r>
            <a:endParaRPr sz="17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191000" y="11620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75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3375" b="1" i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INDIA.RUNS</a:t>
            </a:r>
            <a:endParaRPr sz="3375" b="1" i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343400" y="1847850"/>
            <a:ext cx="352425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533900" y="19526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what next India runs on</a:t>
            </a:r>
            <a:endParaRPr sz="1500" b="0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143250" y="3543300"/>
            <a:ext cx="590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 i="0">
                <a:solidFill>
                  <a:srgbClr val="B991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B991FF"/>
                </a:solidFill>
                <a:latin typeface="Aptos Display"/>
                <a:ea typeface="Aptos Display"/>
                <a:cs typeface="Aptos Display"/>
              </a:rPr>
              <a:t>THANK YOU</a:t>
            </a:r>
            <a:endParaRPr sz="4650" b="1" i="0">
              <a:solidFill>
                <a:srgbClr val="B991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095500" y="44767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2A3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2A30"/>
                </a:solidFill>
                <a:latin typeface="Aptos"/>
                <a:ea typeface="Aptos"/>
                <a:cs typeface="Aptos"/>
              </a:rPr>
              <a:t>Redrob Scout makes hiring smarter: evidence-first ranking, honest explanations, deployable workflow.</a:t>
            </a:r>
            <a:endParaRPr sz="1800" b="1" i="0">
              <a:solidFill>
                <a:srgbClr val="252A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381250" y="50863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8796F"/>
                </a:solidFill>
                <a:latin typeface="Aptos"/>
                <a:ea typeface="Aptos"/>
                <a:cs typeface="Aptos"/>
              </a:rPr>
              <a:t>Live demo: https://ai-recruitment-ayush.vercel.app/</a:t>
            </a:r>
            <a:endParaRPr sz="1575" b="1" i="0">
              <a:solidFill>
                <a:srgbClr val="08796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5231</Words>
  <Application>WPS Presentation</Application>
  <PresentationFormat>Converted Presentation</PresentationFormat>
  <Paragraphs>348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Aptos</vt:lpstr>
      <vt:lpstr>Segoe UI</vt:lpstr>
      <vt:lpstr>Georgia</vt:lpstr>
      <vt:lpstr>Aptos Display</vt:lpstr>
      <vt:lpstr>Microsoft YaHei</vt:lpstr>
      <vt:lpstr>Arial Unicode MS</vt:lpstr>
      <vt:lpstr>Calibri</vt:lpstr>
      <vt:lpstr>Segoe UI Variable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2026-06-20T09:52:05Z</dcterms:created>
  <dcterms:modified xsi:type="dcterms:W3CDTF">2026-06-20T09:52:05Z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E8A77D2282EE42F9B52FBE73B8C542B1_12</vt:lpwstr>
  </property>
  <property fmtid="{D5CDD505-2E9C-101B-9397-08002B2CF9AE}" pid="3" name="KSOProductBuildVer">
    <vt:lpwstr>1033-12.1.0.26880</vt:lpwstr>
  </property>
</Properties>
</file>